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Black"/>
      <p:bold r:id="rId21"/>
      <p:boldItalic r:id="rId22"/>
    </p:embeddedFon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Black-boldItalic.fntdata"/><Relationship Id="rId21" Type="http://schemas.openxmlformats.org/officeDocument/2006/relationships/font" Target="fonts/RobotoBlack-bold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0d85ed14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0d85ed14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0d85ed14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0d85ed14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5f5947d6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5f5947d6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5f5947d6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5f5947d6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5f5947d6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5f5947d6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f5947d6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5f5947d6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5f5947d6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5f5947d6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5f5947d6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5f5947d6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5f5947d6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5f5947d6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5f5947d6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5f5947d6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5f5947d6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5f5947d6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5f5947d6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5f5947d6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5f5947d6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5f5947d6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5f5947d6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5f5947d6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29900" y="1971804"/>
            <a:ext cx="3406871" cy="10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4257625" y="2077900"/>
            <a:ext cx="4574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Roboto Black"/>
                <a:ea typeface="Roboto Black"/>
                <a:cs typeface="Roboto Black"/>
                <a:sym typeface="Roboto Black"/>
              </a:rPr>
              <a:t>CREDIT CARD DEFAULT </a:t>
            </a:r>
            <a:r>
              <a:rPr i="1" lang="en" sz="1800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rPr>
              <a:t> PREDICTION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223350" y="2431225"/>
            <a:ext cx="45744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CAPSTONE PROJECT (DATA-606)</a:t>
            </a:r>
            <a:br>
              <a:rPr lang="en" sz="1800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latin typeface="Roboto"/>
                <a:ea typeface="Roboto"/>
                <a:cs typeface="Roboto"/>
                <a:sym typeface="Roboto"/>
              </a:rPr>
              <a:t>SAI VARA PRASAD JOGIPARTHI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4855610" y="150813"/>
            <a:ext cx="3091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rPr>
              <a:t> </a:t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1254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PROBLEM STATEMENT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2006783"/>
            <a:ext cx="85206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Credit card defaults cause major financial losses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Banks need early identification of risky customers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Manual assessment is slow and inconsistent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Goal: Build a model to predict default risk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311700" y="1473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PROJECT OBJECTIVE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11700" y="2208133"/>
            <a:ext cx="85206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Predict whether a customer will default or not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Use historical financial and behavioral data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Build a reliable machine learning model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Deploy a simple web app for predictions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311700" y="1363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DATASET OVERVIEW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165275" y="2234850"/>
            <a:ext cx="58263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Dataset: UCI Credit Card Dataset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Number of records: ~30,000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Includes demographic + financial data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Target variable: Default (Yes/No)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Screenshot 2026-04-13 23091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1513" y="2451763"/>
            <a:ext cx="1552575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311700" y="1217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FEATURES USED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11700" y="1896975"/>
            <a:ext cx="7858200" cy="28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Credit limit (LIMIT_BAL)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Age, Gender, Education, Marriage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Payment history (last 6 months)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Bill amounts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Previous payment amounts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Features represent customer financial behavior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311700" y="119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TARGET DISTRIBUTION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183575" y="1915275"/>
            <a:ext cx="53505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Majority of customers do NOT default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Dataset is imbalanced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affects model performance</a:t>
            </a:r>
            <a:endParaRPr b="1"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Around ~22% defaults vs ~78% non-defaults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 title="Screenshot 2026-04-13 2316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5163" y="1329288"/>
            <a:ext cx="296227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311700" y="1254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DATA PRE-PROCESSING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311700" y="2030408"/>
            <a:ext cx="85206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No missing values were found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Deleted duplicated rows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Encoded categorical variables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Feature selection applied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Data split into training and testing sets 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/>
        </p:nvSpPr>
        <p:spPr>
          <a:xfrm>
            <a:off x="311700" y="1286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EXPLORATORY DATA ANALYSIS (EDA)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311700" y="2281358"/>
            <a:ext cx="85206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Payment history strongly affects default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Higher delay → higher default risk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Lower payments → higher risk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Younger customers show slightly higher risk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2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311700" y="110631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FEATURES CORRELATION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 title="newpl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920875"/>
            <a:ext cx="4311925" cy="29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newplot (1).png"/>
          <p:cNvPicPr preferRelativeResize="0"/>
          <p:nvPr/>
        </p:nvPicPr>
        <p:blipFill rotWithShape="1">
          <a:blip r:embed="rId6">
            <a:alphaModFix/>
          </a:blip>
          <a:srcRect b="0" l="21117" r="23237" t="12549"/>
          <a:stretch/>
        </p:blipFill>
        <p:spPr>
          <a:xfrm>
            <a:off x="5369700" y="1840125"/>
            <a:ext cx="3462598" cy="29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3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/>
        </p:nvSpPr>
        <p:spPr>
          <a:xfrm>
            <a:off x="311700" y="1263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MODEL BUILDING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2071133"/>
            <a:ext cx="85206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machine learning algorithms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Tried multiple models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Trained Logistic regression, Decision trees, K nearest neighbor, Random forest and XGBoost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Selected best-performing model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 model: </a:t>
            </a: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XGBoost Classifier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9" name="Google Shape;139;p23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4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 txBox="1"/>
          <p:nvPr/>
        </p:nvSpPr>
        <p:spPr>
          <a:xfrm>
            <a:off x="311700" y="123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MODEL PERFORMANCE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311700" y="1909700"/>
            <a:ext cx="49890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Accuracy: ~75%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Precision and Recall evaluated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Better at predicting non-defaults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Some difficulty with minority class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Imbalance affected performance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4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Screenshot 2026-04-13 23351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2400" y="2577212"/>
            <a:ext cx="3815226" cy="12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/>
          <p:nvPr/>
        </p:nvSpPr>
        <p:spPr>
          <a:xfrm>
            <a:off x="311700" y="1263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CONFUSION MATRIX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311700" y="2038825"/>
            <a:ext cx="56670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Shows correct and incorrect predictions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High true negatives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Lower true positives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Model struggles slightly with detecting defaults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25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 title="newplot (2).png"/>
          <p:cNvPicPr preferRelativeResize="0"/>
          <p:nvPr/>
        </p:nvPicPr>
        <p:blipFill rotWithShape="1">
          <a:blip r:embed="rId5">
            <a:alphaModFix/>
          </a:blip>
          <a:srcRect b="6884" l="21756" r="30206" t="13168"/>
          <a:stretch/>
        </p:blipFill>
        <p:spPr>
          <a:xfrm>
            <a:off x="5978700" y="1673600"/>
            <a:ext cx="3005001" cy="27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6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 txBox="1"/>
          <p:nvPr/>
        </p:nvSpPr>
        <p:spPr>
          <a:xfrm>
            <a:off x="311700" y="1215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WEB APPLICATION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311700" y="1909700"/>
            <a:ext cx="53280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Built using Streamlit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User inputs customer details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Model predicts default risk instantly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Displays probability score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200">
                <a:latin typeface="Roboto"/>
                <a:ea typeface="Roboto"/>
                <a:cs typeface="Roboto"/>
                <a:sym typeface="Roboto"/>
              </a:rPr>
              <a:t>Simple and interactive UI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26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7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/>
        </p:nvSpPr>
        <p:spPr>
          <a:xfrm>
            <a:off x="166400" y="108241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APPLICATION OUTPUT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311700" y="1655113"/>
            <a:ext cx="45852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Shows </a:t>
            </a: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Low Risk / High Risk</a:t>
            </a:r>
            <a:endParaRPr b="1"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Displays probability of default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Helps in quick decision making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27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 title="Screenshot 2026-04-13 23430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4450" y="1497378"/>
            <a:ext cx="3807851" cy="313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title="Screenshot 2026-04-13 23432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025" y="3110350"/>
            <a:ext cx="4170549" cy="151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8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 txBox="1"/>
          <p:nvPr/>
        </p:nvSpPr>
        <p:spPr>
          <a:xfrm>
            <a:off x="311700" y="924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latin typeface="Roboto Black"/>
                <a:ea typeface="Roboto Black"/>
                <a:cs typeface="Roboto Black"/>
                <a:sym typeface="Roboto Black"/>
              </a:rPr>
              <a:t>CONCLUSION &amp; FUTURE SCOPE</a:t>
            </a:r>
            <a:endParaRPr i="1" sz="3000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311700" y="1457648"/>
            <a:ext cx="8520600" cy="3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Successfully built prediction model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Identified key risk factors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Created a working web application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Future Improvements:</a:t>
            </a:r>
            <a:endParaRPr b="1"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Handle imbalance better (SMOTE / tuning)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Improve recall for default cases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Deploy on cloud for real-world use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p28"/>
          <p:cNvPicPr preferRelativeResize="0"/>
          <p:nvPr/>
        </p:nvPicPr>
        <p:blipFill rotWithShape="1">
          <a:blip r:embed="rId4">
            <a:alphaModFix/>
          </a:blip>
          <a:srcRect b="30977" l="0" r="0" t="30619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